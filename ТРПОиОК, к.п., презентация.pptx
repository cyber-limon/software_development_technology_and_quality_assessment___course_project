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77" r:id="rId16"/>
    <p:sldId id="27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1" r:id="rId25"/>
    <p:sldId id="279" r:id="rId26"/>
    <p:sldId id="280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409F4-497E-9C90-BFE9-F85FA69F6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BCABD0-F549-8AFD-D051-B2B56D6EA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A608B3-C5CA-D948-3E58-5B03102D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C14E1F-A569-6DCC-3DD6-128C364F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365B0F-4E12-F094-FBBE-F74309A9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02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0A43-0A4E-5477-B2AD-3580DBCD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E0421-4880-2967-2CE9-59EF5058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F2FED-90BF-70F7-920E-E4545D51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0CF7A1-96DB-C616-E1FE-B7538DDD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FCB2B-11D1-E2DC-332B-CA63841E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3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C4B6B-3519-C668-20EC-087A1C4B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92AEB1-24F8-5EEB-9693-F0D6F6D95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B51FF-A228-8E02-826F-B4A8AFAC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7289F5-2C3B-ECD6-49DF-03567F81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8178C-FCFA-65D1-186B-03E21839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4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13098-AA74-4335-A03A-AEB310E6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9CC83D-A2F3-D561-85D4-0BE9BD10D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C4C3B7-09B4-DDCC-C7E2-07E8D526A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580CCA-C03B-A1A4-CF4D-24398BB4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52092C-6726-4A4E-4DA1-C98DAC30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56BCD-BF6A-CC6B-1EA2-0105A432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21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EED25-1E6C-6D6F-83CC-2581FFC2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08D171-CCA6-B2A1-AF1C-20387A98B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0E6CB1-6899-8081-5AD0-42F7C8342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BB8F35-A467-25BB-01C2-DCBAA9B6C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442A61-948E-8E0C-4D21-AF3957933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2C478C-A415-C451-6ADE-FD1DBD2A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131F9C-543C-1460-D4ED-30F41C0D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03BE30B-3007-BF73-3E77-93708AF3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2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079E0-4735-F04F-22F9-39BFBBC6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AB8BFF-C40F-27CA-54FC-2FFC6153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4E9F1C-397A-B67B-8096-64901717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39E259-224A-17D6-EA9D-D9678F2B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05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26979D-8313-0D39-77D0-AE5578B4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3AFF87-BD6F-D7FB-3CA0-824DA8A9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2953E0-DED2-E291-128F-D3B4B335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84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D0EFC-6B6A-51EF-27F1-465B9D5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77DDA-1F1B-D311-6551-086E2B3BF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72442-E422-23ED-4B76-D03EE673A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3AA1D7-0D9E-BBE2-7984-5B2B8E9B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47A8E2-B49A-4020-17B8-35B517D1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3F62C0-6F7E-F9EB-26F9-ACDF91CB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27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38376-57F6-7D59-1537-E020902A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A61273-28D1-BCF7-5DD5-7122F3F60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7407BB-F28C-2A1E-58AB-20BEB72F5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04B83A-322B-8315-C5BB-2E19DA86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87D330-E7F4-2D71-2806-281A1A10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7E3AF4-FB7B-9EF8-3B5F-A981FDBA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360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5FC73-EFDB-369A-604B-018BA4C3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20FE15-35BE-08A7-7073-C89E7389C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16199-59B9-B397-D808-B3B835B7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6387D3-BAD3-AFD0-9E09-CE41BC20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8107A7-2573-6CD6-A604-BD60DFE8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61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CEC864-6F46-3826-610F-2AA35F331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508FA0-7EAD-3E81-D45F-F426F2D69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7ADE9B-7D0E-B1C8-7A32-4BF93857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83658-A83B-9139-606E-90D9DFF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07341A-BA6A-6EEA-6907-243C521B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71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F7A07-C104-7A44-E870-A08309CA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BC39BA-496E-ED10-9181-DE3F7BC0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BC45EA-3171-EF91-B8B3-4198681FD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56B3B-578B-42A8-BD74-F9976784A8DF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C9748F-2C1B-6316-D292-87A1129EA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FA642-2593-5607-9B3F-597FB041D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8AF4E-1EA0-430E-A326-BA0B69191B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99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71B9B-BE2A-CB9D-53E8-8A9E31B7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ru-RU" sz="4800" dirty="0">
                <a:solidFill>
                  <a:schemeClr val="bg1"/>
                </a:solidFill>
              </a:rPr>
              <a:t>Технологии разработки программного </a:t>
            </a:r>
            <a:br>
              <a:rPr lang="ru-RU" sz="4800" dirty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обеспечения и оценка качества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AC5711-37FC-753A-852A-1ADCBD1F5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Курсовой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99424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83ED4-71DC-C9E1-BAA3-833130D3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Цель работы</a:t>
            </a:r>
            <a:endParaRPr lang="ru-RU" sz="480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BF3AD0-DC3D-36E9-AFC2-2BC4402EA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5086048" cy="5340097"/>
          </a:xfrm>
        </p:spPr>
        <p:txBody>
          <a:bodyPr anchor="ctr">
            <a:normAutofit/>
          </a:bodyPr>
          <a:lstStyle/>
          <a:p>
            <a:pPr marL="0" indent="457200" algn="just">
              <a:buNone/>
            </a:pPr>
            <a:r>
              <a:rPr lang="ru-RU" dirty="0">
                <a:solidFill>
                  <a:schemeClr val="tx2"/>
                </a:solidFill>
              </a:rPr>
              <a:t>Систематизировать и применить на практике знания по технологии разработки программного обеспечения путем создания автоматизированной системы с полным жизненным циклом – от формирования требований до реализации и оценки качества готового продукта.</a:t>
            </a:r>
          </a:p>
          <a:p>
            <a:endParaRPr lang="ru-R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934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E6C9F-5E7B-00DE-93D4-B8E08B45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91712"/>
            <a:ext cx="5309616" cy="5160789"/>
          </a:xfrm>
        </p:spPr>
        <p:txBody>
          <a:bodyPr anchor="ctr">
            <a:norm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Задачи 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967444-E47E-76A8-AEE9-06FCAA7E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77" y="891713"/>
            <a:ext cx="5609107" cy="5160790"/>
          </a:xfrm>
        </p:spPr>
        <p:txBody>
          <a:bodyPr anchor="ctr">
            <a:normAutofit lnSpcReduction="10000"/>
          </a:bodyPr>
          <a:lstStyle/>
          <a:p>
            <a:pPr marL="0" indent="457200" algn="just">
              <a:buNone/>
            </a:pPr>
            <a:r>
              <a:rPr lang="ru-RU" sz="2400" dirty="0">
                <a:solidFill>
                  <a:schemeClr val="bg1"/>
                </a:solidFill>
              </a:rPr>
              <a:t>Задачами курсового проекта являются:</a:t>
            </a:r>
          </a:p>
          <a:p>
            <a:pPr algn="just"/>
            <a:r>
              <a:rPr lang="ru-RU" sz="2400" dirty="0">
                <a:solidFill>
                  <a:schemeClr val="bg1"/>
                </a:solidFill>
              </a:rPr>
              <a:t>провести анализ предметной области и сформулировать требования к системе;</a:t>
            </a:r>
          </a:p>
          <a:p>
            <a:pPr algn="just"/>
            <a:r>
              <a:rPr lang="ru-RU" sz="2400" dirty="0">
                <a:solidFill>
                  <a:schemeClr val="bg1"/>
                </a:solidFill>
              </a:rPr>
              <a:t>разработать комплекс моделей системы на различных этапах жизненного цикла;</a:t>
            </a:r>
          </a:p>
          <a:p>
            <a:pPr algn="just"/>
            <a:r>
              <a:rPr lang="ru-RU" sz="2400" dirty="0">
                <a:solidFill>
                  <a:schemeClr val="bg1"/>
                </a:solidFill>
              </a:rPr>
              <a:t>реализовать функционирующий прототип системы</a:t>
            </a:r>
            <a:r>
              <a:rPr lang="en-US" sz="2400" dirty="0">
                <a:solidFill>
                  <a:schemeClr val="bg1"/>
                </a:solidFill>
              </a:rPr>
              <a:t>;</a:t>
            </a:r>
            <a:endParaRPr lang="ru-RU" sz="2400" dirty="0">
              <a:solidFill>
                <a:schemeClr val="bg1"/>
              </a:solidFill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</a:rPr>
              <a:t>провести всестороннюю оценку качества разработанного ПО;</a:t>
            </a:r>
          </a:p>
          <a:p>
            <a:pPr algn="just"/>
            <a:r>
              <a:rPr lang="ru-RU" sz="2400" dirty="0">
                <a:solidFill>
                  <a:schemeClr val="bg1"/>
                </a:solidFill>
              </a:rPr>
              <a:t>оформить комплексную проектную документацию.</a:t>
            </a:r>
          </a:p>
        </p:txBody>
      </p:sp>
    </p:spTree>
    <p:extLst>
      <p:ext uri="{BB962C8B-B14F-4D97-AF65-F5344CB8AC3E}">
        <p14:creationId xmlns:p14="http://schemas.microsoft.com/office/powerpoint/2010/main" val="259253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9">
            <a:extLst>
              <a:ext uri="{FF2B5EF4-FFF2-40B4-BE49-F238E27FC236}">
                <a16:creationId xmlns:a16="http://schemas.microsoft.com/office/drawing/2014/main" id="{CA136B9F-FEAF-445D-88E4-7D69EDBF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96886571-1553-4F14-B847-99BF7B625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301ACB83-6234-46D1-803C-5D5077727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1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1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1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1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1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1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2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958F9-EE42-58EA-31A9-4EB8B7DF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383456"/>
            <a:ext cx="10158984" cy="3045543"/>
          </a:xfrm>
        </p:spPr>
        <p:txBody>
          <a:bodyPr anchor="b"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Цели и назначения создания автоматизированной системы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CB1CCC-6296-296B-8DCE-A26866818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555833"/>
            <a:ext cx="10158984" cy="2722137"/>
          </a:xfrm>
        </p:spPr>
        <p:txBody>
          <a:bodyPr anchor="t">
            <a:normAutofit/>
          </a:bodyPr>
          <a:lstStyle/>
          <a:p>
            <a:pPr marL="0" indent="457200" algn="just">
              <a:buNone/>
            </a:pPr>
            <a:r>
              <a:rPr lang="ru-RU" sz="2400" dirty="0">
                <a:solidFill>
                  <a:schemeClr val="bg1"/>
                </a:solidFill>
              </a:rPr>
              <a:t>На современных производственных объектах требуется непрерывный мониторинг параметров окружающей среды, таких как температура, влажность и задымленность, для обеспечения безопасности персонала, сохранности оборудования и соблюдения технологических норм. </a:t>
            </a:r>
          </a:p>
        </p:txBody>
      </p:sp>
    </p:spTree>
    <p:extLst>
      <p:ext uri="{BB962C8B-B14F-4D97-AF65-F5344CB8AC3E}">
        <p14:creationId xmlns:p14="http://schemas.microsoft.com/office/powerpoint/2010/main" val="1756935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6186B-F263-C848-51FD-294FDFB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100" b="1">
                <a:solidFill>
                  <a:schemeClr val="bg1"/>
                </a:solidFill>
              </a:rPr>
              <a:t>Автоматизированная система контроля и управления позволит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D0BDFF-0FCD-E28C-2010-FD895475A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5086048" cy="5340097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ru-RU" sz="2400" dirty="0">
                <a:solidFill>
                  <a:schemeClr val="tx2"/>
                </a:solidFill>
              </a:rPr>
              <a:t>исключить позднее обнаружение критических параметров окружающей среды;</a:t>
            </a:r>
          </a:p>
          <a:p>
            <a:pPr algn="just"/>
            <a:r>
              <a:rPr lang="ru-RU" sz="2400" dirty="0">
                <a:solidFill>
                  <a:schemeClr val="tx2"/>
                </a:solidFill>
              </a:rPr>
              <a:t>мгновенно активировать системы защиты (например, система пожаротушения) при возникновении экстренных ситуаций;</a:t>
            </a:r>
          </a:p>
          <a:p>
            <a:pPr algn="just"/>
            <a:r>
              <a:rPr lang="ru-RU" sz="2400" dirty="0">
                <a:solidFill>
                  <a:schemeClr val="tx2"/>
                </a:solidFill>
              </a:rPr>
              <a:t>заменить ручной сбор данных автоматическим, что позволит считывать данные значительно чаще и централизованно хранить их;</a:t>
            </a:r>
          </a:p>
          <a:p>
            <a:pPr algn="just"/>
            <a:r>
              <a:rPr lang="ru-RU" sz="2400" dirty="0">
                <a:solidFill>
                  <a:schemeClr val="tx2"/>
                </a:solidFill>
              </a:rPr>
              <a:t>проводить непрерывный анализ показаний датчиков и так далее.</a:t>
            </a:r>
          </a:p>
        </p:txBody>
      </p:sp>
    </p:spTree>
    <p:extLst>
      <p:ext uri="{BB962C8B-B14F-4D97-AF65-F5344CB8AC3E}">
        <p14:creationId xmlns:p14="http://schemas.microsoft.com/office/powerpoint/2010/main" val="3494149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8E291-67DC-D6A6-6C95-F0D10949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908263"/>
            <a:ext cx="10158984" cy="2274996"/>
          </a:xfrm>
        </p:spPr>
        <p:txBody>
          <a:bodyPr anchor="b">
            <a:norm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Функции создаваемой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C27D7D-4145-0432-8771-7B72CB4BD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3452971"/>
            <a:ext cx="10158984" cy="2596896"/>
          </a:xfrm>
        </p:spPr>
        <p:txBody>
          <a:bodyPr anchor="t">
            <a:normAutofit fontScale="92500"/>
          </a:bodyPr>
          <a:lstStyle/>
          <a:p>
            <a:pPr lvl="0" algn="just"/>
            <a:r>
              <a:rPr lang="ru-RU" sz="2000" dirty="0">
                <a:solidFill>
                  <a:schemeClr val="bg1"/>
                </a:solidFill>
              </a:rPr>
              <a:t>сбор данных – автоматический опрос датчиков с заданными интервалами;</a:t>
            </a:r>
          </a:p>
          <a:p>
            <a:pPr lvl="0" algn="just"/>
            <a:r>
              <a:rPr lang="ru-RU" sz="2000" dirty="0">
                <a:solidFill>
                  <a:schemeClr val="bg1"/>
                </a:solidFill>
              </a:rPr>
              <a:t>визуализация – отображение данных в виде графиков и таблиц через веб-интерфейс;</a:t>
            </a:r>
          </a:p>
          <a:p>
            <a:pPr lvl="0" algn="just"/>
            <a:r>
              <a:rPr lang="ru-RU" sz="2000" dirty="0">
                <a:solidFill>
                  <a:schemeClr val="bg1"/>
                </a:solidFill>
              </a:rPr>
              <a:t>контроль – сравнение показаний с заданными пороговыми значениями;</a:t>
            </a:r>
          </a:p>
          <a:p>
            <a:pPr lvl="0" algn="just"/>
            <a:r>
              <a:rPr lang="ru-RU" sz="2000" dirty="0">
                <a:solidFill>
                  <a:schemeClr val="bg1"/>
                </a:solidFill>
              </a:rPr>
              <a:t>оповещение – уведомление оператора при превышении порогов;</a:t>
            </a:r>
          </a:p>
          <a:p>
            <a:pPr lvl="0" algn="just"/>
            <a:r>
              <a:rPr lang="ru-RU" sz="2000" dirty="0">
                <a:solidFill>
                  <a:schemeClr val="bg1"/>
                </a:solidFill>
              </a:rPr>
              <a:t>архивация – хранение истории показаний для формирования отчетов;</a:t>
            </a:r>
          </a:p>
          <a:p>
            <a:pPr lvl="0" algn="just"/>
            <a:r>
              <a:rPr lang="ru-RU" sz="2000" dirty="0">
                <a:solidFill>
                  <a:schemeClr val="bg1"/>
                </a:solidFill>
              </a:rPr>
              <a:t>управление – возможность настройки параметров и пороговых значений администратором.</a:t>
            </a:r>
          </a:p>
        </p:txBody>
      </p:sp>
    </p:spTree>
    <p:extLst>
      <p:ext uri="{BB962C8B-B14F-4D97-AF65-F5344CB8AC3E}">
        <p14:creationId xmlns:p14="http://schemas.microsoft.com/office/powerpoint/2010/main" val="325744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DC647-06D1-C0BD-6ECA-3169C7BA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Характеристики объекта автоматизации</a:t>
            </a:r>
            <a:endParaRPr lang="ru-RU" sz="480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7CEC8B-893C-F373-864F-29887F07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841247"/>
            <a:ext cx="4941205" cy="5340097"/>
          </a:xfrm>
        </p:spPr>
        <p:txBody>
          <a:bodyPr anchor="ctr">
            <a:normAutofit/>
          </a:bodyPr>
          <a:lstStyle/>
          <a:p>
            <a:pPr marL="0" indent="457200" algn="just">
              <a:buNone/>
            </a:pPr>
            <a:r>
              <a:rPr lang="ru-RU" sz="1800" dirty="0">
                <a:solidFill>
                  <a:schemeClr val="tx2"/>
                </a:solidFill>
              </a:rPr>
              <a:t>В каждом предприятии имеются производственные помещения, в которых присутствуют: сотрудники, различное оборудование (станки, печи, компьютеры и так далее) и производимый продукт. Для безопасной работы сотрудников, корректного функционирования оборудования, сохранности материалов и изделий в помещении необходимо поддерживать оптимальные значения показателей (температура, важность, задымленность и другие), которые заданы в нормативных документах и правилах, а в случае возникновения экстренных ситуаций активировать системы защиты, такие как, например, система пожаротушения.</a:t>
            </a:r>
          </a:p>
        </p:txBody>
      </p:sp>
    </p:spTree>
    <p:extLst>
      <p:ext uri="{BB962C8B-B14F-4D97-AF65-F5344CB8AC3E}">
        <p14:creationId xmlns:p14="http://schemas.microsoft.com/office/powerpoint/2010/main" val="3010569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диаграмм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A5F68E-B1DE-63BE-E4F5-908554834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26746-9261-A51D-ED00-C7759440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IDEF0 (A-0)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69368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диаграмма, Технический чертеж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275BFF-801A-269C-3811-ABD1F3DB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3E8F8-9676-AEC0-6808-F4718DC4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IDEF0 (A0)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9007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D8F27-B2D0-534A-9179-876B7759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IDEF0 (A1)</a:t>
            </a:r>
            <a:endParaRPr lang="ru-RU" dirty="0"/>
          </a:p>
        </p:txBody>
      </p:sp>
      <p:pic>
        <p:nvPicPr>
          <p:cNvPr id="4" name="Рисунок 3" descr="Изображение выглядит как диаграмма, Технический чертеж, линия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8D024F-30F0-18B1-1B75-08D00775F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99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E8477-EA02-792C-1D98-9F9E18EB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IDEF0 (A2)</a:t>
            </a:r>
            <a:endParaRPr lang="ru-RU" dirty="0"/>
          </a:p>
        </p:txBody>
      </p:sp>
      <p:pic>
        <p:nvPicPr>
          <p:cNvPr id="4" name="Рисунок 3" descr="Изображение выглядит как диаграмма, Технический чертеж, План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D95A87-3C69-64F3-9522-09D12112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20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B4537-6B97-3F4C-5292-7364FE5A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IDEF0 (A3)</a:t>
            </a:r>
            <a:endParaRPr lang="ru-RU" dirty="0"/>
          </a:p>
        </p:txBody>
      </p:sp>
      <p:pic>
        <p:nvPicPr>
          <p:cNvPr id="4" name="Рисунок 3" descr="Изображение выглядит как диаграмма, линия, Технический чертеж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0895A2-5D8A-6CD4-0C7E-4932B807F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41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98AF1-FF05-AD5A-F4C4-510070C2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</a:t>
            </a:r>
            <a:endParaRPr lang="ru-RU" b="1" dirty="0"/>
          </a:p>
        </p:txBody>
      </p:sp>
      <p:pic>
        <p:nvPicPr>
          <p:cNvPr id="4" name="Рисунок 3" descr="Изображение выглядит как диаграмма, линия, текст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97649E-AB74-248E-4646-67029C615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36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1736-8B49-1ADD-4B3A-D0D726AB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4CF29-6B12-D5F3-2388-E8741E93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IDEF3_1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E0C39E-9139-2FA9-CCE3-516846DB8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6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935D-D699-D09B-FADE-A856F62B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3769-72B6-551D-F7EC-921B8BE5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IDEF3_2</a:t>
            </a:r>
            <a:endParaRPr lang="ru-RU" dirty="0"/>
          </a:p>
        </p:txBody>
      </p:sp>
      <p:pic>
        <p:nvPicPr>
          <p:cNvPr id="4" name="Рисунок 3" descr="Изображение выглядит как диаграмма, линия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3D1715-548D-3A04-40B4-C54BC237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5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54FD-AEF9-C29B-F408-8D693B9A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85951-9CE3-6821-737D-306ACB86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IDEF3_3</a:t>
            </a:r>
            <a:endParaRPr lang="ru-RU" dirty="0"/>
          </a:p>
        </p:txBody>
      </p:sp>
      <p:pic>
        <p:nvPicPr>
          <p:cNvPr id="4" name="Рисунок 3" descr="Изображение выглядит как линия, диаграмма, Прямоугольн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1667E7-73BF-56AE-04EA-7DD34745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8184"/>
            <a:ext cx="10515600" cy="290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1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A0F62-A5A3-745C-4FBE-A8D8DDAB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IDEF3_4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7F7FAF-0B36-F7BE-F833-BA40076BC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673" y="2105184"/>
            <a:ext cx="8108653" cy="264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0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C4248-75B8-F0F9-22EA-5BCC4A62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IDEF3_5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E4FE31-A47D-6FA6-40C1-9BAF570E5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5" y="447357"/>
            <a:ext cx="3714750" cy="59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82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C1ADD-3D1E-108A-D412-9C571E45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прецедентов </a:t>
            </a:r>
          </a:p>
        </p:txBody>
      </p:sp>
      <p:pic>
        <p:nvPicPr>
          <p:cNvPr id="4" name="Рисунок 3" descr="Изображение выглядит как диаграмма, линия, круг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5C8F8F-C060-9F81-7625-E27152CB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94" y="1690688"/>
            <a:ext cx="9395211" cy="36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77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9E6BD-F378-E56C-E672-36FD938E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классов </a:t>
            </a:r>
          </a:p>
        </p:txBody>
      </p:sp>
      <p:pic>
        <p:nvPicPr>
          <p:cNvPr id="4" name="Рисунок 3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105B6B-84F5-74BC-6BE6-A64BBF96D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161" y="1690688"/>
            <a:ext cx="7833678" cy="4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36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0108C-511E-2288-E10D-1A4D29EC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последовательности </a:t>
            </a:r>
          </a:p>
        </p:txBody>
      </p:sp>
      <p:pic>
        <p:nvPicPr>
          <p:cNvPr id="4" name="Рисунок 3" descr="Изображение выглядит как текст, диаграмма, План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50A2C1-07F8-6CC9-9D60-A1066CE4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538" y="1319212"/>
            <a:ext cx="5166924" cy="517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32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ABFD-7E9F-E8E2-E172-84A1595A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состояний </a:t>
            </a:r>
          </a:p>
        </p:txBody>
      </p:sp>
      <p:pic>
        <p:nvPicPr>
          <p:cNvPr id="4" name="Рисунок 3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166999-0CD3-FE18-75DD-ED4B39D7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1690688"/>
            <a:ext cx="5854700" cy="49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55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1B0EA-1BDB-715F-5E58-80C7E9E8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Радарная диаграмма</a:t>
            </a:r>
          </a:p>
        </p:txBody>
      </p:sp>
      <p:pic>
        <p:nvPicPr>
          <p:cNvPr id="4" name="Рисунок 3" descr="Изображение выглядит как диаграмма, линия, оригами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43767A-6951-D8AA-EDCA-F494FED26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20" y="1690688"/>
            <a:ext cx="7604760" cy="45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65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8C693-D93F-BDFB-74D8-8AA7E125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Оценки характеристик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2924C63-CC6E-892E-FA9A-94380FB0B7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019445"/>
              </p:ext>
            </p:extLst>
          </p:nvPr>
        </p:nvGraphicFramePr>
        <p:xfrm>
          <a:off x="3794296" y="351478"/>
          <a:ext cx="7559505" cy="6159861"/>
        </p:xfrm>
        <a:graphic>
          <a:graphicData uri="http://schemas.openxmlformats.org/drawingml/2006/table">
            <a:tbl>
              <a:tblPr firstRow="1" firstCol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4605385">
                  <a:extLst>
                    <a:ext uri="{9D8B030D-6E8A-4147-A177-3AD203B41FA5}">
                      <a16:colId xmlns:a16="http://schemas.microsoft.com/office/drawing/2014/main" val="2087183700"/>
                    </a:ext>
                  </a:extLst>
                </a:gridCol>
                <a:gridCol w="2954120">
                  <a:extLst>
                    <a:ext uri="{9D8B030D-6E8A-4147-A177-3AD203B41FA5}">
                      <a16:colId xmlns:a16="http://schemas.microsoft.com/office/drawing/2014/main" val="1480516722"/>
                    </a:ext>
                  </a:extLst>
                </a:gridCol>
              </a:tblGrid>
              <a:tr h="106669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all" spc="60">
                          <a:solidFill>
                            <a:schemeClr val="tx1"/>
                          </a:solidFill>
                          <a:effectLst/>
                        </a:rPr>
                        <a:t>Характеристика</a:t>
                      </a:r>
                      <a:endParaRPr lang="ru-RU" sz="2300" b="1" cap="all" spc="6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4987" marR="264987" marT="264987" marB="26498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all" spc="60">
                          <a:solidFill>
                            <a:schemeClr val="tx1"/>
                          </a:solidFill>
                          <a:effectLst/>
                        </a:rPr>
                        <a:t>Оценка</a:t>
                      </a:r>
                      <a:endParaRPr lang="ru-RU" sz="2300" b="1" cap="all" spc="6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4987" marR="264987" marT="264987" marB="26498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706797"/>
                  </a:ext>
                </a:extLst>
              </a:tr>
              <a:tr h="124335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none" spc="0">
                          <a:solidFill>
                            <a:schemeClr val="tx1"/>
                          </a:solidFill>
                          <a:effectLst/>
                        </a:rPr>
                        <a:t>Функциональная пригодность</a:t>
                      </a:r>
                      <a:endParaRPr lang="ru-RU" sz="23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3100" cap="none" spc="0">
                          <a:solidFill>
                            <a:schemeClr val="tx1"/>
                          </a:solidFill>
                          <a:effectLst/>
                        </a:rPr>
                        <a:t>Отлично</a:t>
                      </a:r>
                      <a:endParaRPr lang="ru-RU" sz="3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712912"/>
                  </a:ext>
                </a:extLst>
              </a:tr>
              <a:tr h="86881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none" spc="0">
                          <a:solidFill>
                            <a:schemeClr val="tx1"/>
                          </a:solidFill>
                          <a:effectLst/>
                        </a:rPr>
                        <a:t>Надежность</a:t>
                      </a:r>
                      <a:endParaRPr lang="ru-RU" sz="23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3100" cap="none" spc="0">
                          <a:solidFill>
                            <a:schemeClr val="tx1"/>
                          </a:solidFill>
                          <a:effectLst/>
                        </a:rPr>
                        <a:t>Отлично</a:t>
                      </a:r>
                      <a:endParaRPr lang="ru-RU" sz="3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009588"/>
                  </a:ext>
                </a:extLst>
              </a:tr>
              <a:tr h="124335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none" spc="0">
                          <a:solidFill>
                            <a:schemeClr val="tx1"/>
                          </a:solidFill>
                          <a:effectLst/>
                        </a:rPr>
                        <a:t>Удобство использования</a:t>
                      </a:r>
                      <a:endParaRPr lang="ru-RU" sz="23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3100" cap="none" spc="0">
                          <a:solidFill>
                            <a:schemeClr val="tx1"/>
                          </a:solidFill>
                          <a:effectLst/>
                        </a:rPr>
                        <a:t>Хорошо</a:t>
                      </a:r>
                      <a:endParaRPr lang="ru-RU" sz="3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747481"/>
                  </a:ext>
                </a:extLst>
              </a:tr>
              <a:tr h="86881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none" spc="0">
                          <a:solidFill>
                            <a:schemeClr val="tx1"/>
                          </a:solidFill>
                          <a:effectLst/>
                        </a:rPr>
                        <a:t>Сопровождаемость</a:t>
                      </a:r>
                      <a:endParaRPr lang="ru-RU" sz="23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3100" cap="none" spc="0">
                          <a:solidFill>
                            <a:schemeClr val="tx1"/>
                          </a:solidFill>
                          <a:effectLst/>
                        </a:rPr>
                        <a:t>Хорошо</a:t>
                      </a:r>
                      <a:endParaRPr lang="ru-RU" sz="3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595890"/>
                  </a:ext>
                </a:extLst>
              </a:tr>
              <a:tr h="86881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2300" b="1" cap="none" spc="0">
                          <a:solidFill>
                            <a:schemeClr val="tx1"/>
                          </a:solidFill>
                          <a:effectLst/>
                        </a:rPr>
                        <a:t>Производительность</a:t>
                      </a:r>
                      <a:endParaRPr lang="ru-RU" sz="23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</a:pPr>
                      <a:r>
                        <a:rPr lang="ru-RU" sz="3100" cap="none" spc="0">
                          <a:solidFill>
                            <a:schemeClr val="tx1"/>
                          </a:solidFill>
                          <a:effectLst/>
                        </a:rPr>
                        <a:t>Хорошо</a:t>
                      </a:r>
                      <a:endParaRPr lang="ru-RU" sz="31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2494" marR="132494" marT="0" marB="1766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1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821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C7232-63A9-F788-FB39-BD84F807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F877C-D64E-DCDE-AACB-520209AB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ru-RU" sz="4800" b="1">
                <a:solidFill>
                  <a:schemeClr val="bg1"/>
                </a:solidFill>
              </a:rPr>
              <a:t>Выводы о соответствии и несоответствии требованиям качества</a:t>
            </a:r>
          </a:p>
        </p:txBody>
      </p:sp>
      <p:sp>
        <p:nvSpPr>
          <p:cNvPr id="24" name="Объект 2">
            <a:extLst>
              <a:ext uri="{FF2B5EF4-FFF2-40B4-BE49-F238E27FC236}">
                <a16:creationId xmlns:a16="http://schemas.microsoft.com/office/drawing/2014/main" id="{23655694-853E-4B1A-9E05-686898164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451" y="505968"/>
            <a:ext cx="4853830" cy="5846064"/>
          </a:xfrm>
        </p:spPr>
        <p:txBody>
          <a:bodyPr anchor="ctr">
            <a:normAutofit/>
          </a:bodyPr>
          <a:lstStyle/>
          <a:p>
            <a:pPr lvl="0" algn="just"/>
            <a:r>
              <a:rPr lang="ru-RU" sz="1600" dirty="0">
                <a:solidFill>
                  <a:schemeClr val="tx2"/>
                </a:solidFill>
              </a:rPr>
              <a:t>полное соответствие функциональным требованиям: система реализует все заявленные в ТЗ функции (сбор, визуализация, контроль, оповещение, архивация), что подтверждается успешным тестированием.</a:t>
            </a:r>
          </a:p>
          <a:p>
            <a:pPr lvl="0" algn="just"/>
            <a:r>
              <a:rPr lang="ru-RU" sz="1600" dirty="0">
                <a:solidFill>
                  <a:schemeClr val="tx2"/>
                </a:solidFill>
              </a:rPr>
              <a:t>высокие надёжность и производительность – надёжность (готовность 99.89%) и производительность (152 запроса в секунду) находятся на уровне, достаточном для промышленной эксплуатации в режиме реального времени.</a:t>
            </a:r>
          </a:p>
          <a:p>
            <a:pPr lvl="0" algn="just"/>
            <a:r>
              <a:rPr lang="ru-RU" sz="1600" dirty="0">
                <a:solidFill>
                  <a:schemeClr val="tx2"/>
                </a:solidFill>
              </a:rPr>
              <a:t>соответствие проектным моделям: архитектура кода соответствует «UML-диаграммам» (обеспечивая модульность), а логика – «IDEF» моделям. Однако критическое несоответствие выявлено на уровне документации кода: отсутствие комментариев снижает </a:t>
            </a:r>
            <a:r>
              <a:rPr lang="ru-RU" sz="1600" dirty="0" err="1">
                <a:solidFill>
                  <a:schemeClr val="tx2"/>
                </a:solidFill>
              </a:rPr>
              <a:t>сопровождаемость</a:t>
            </a:r>
            <a:r>
              <a:rPr lang="ru-RU" sz="1600" dirty="0">
                <a:solidFill>
                  <a:schemeClr val="tx2"/>
                </a:solidFill>
              </a:rPr>
              <a:t>.</a:t>
            </a:r>
          </a:p>
          <a:p>
            <a:pPr lvl="0" algn="just"/>
            <a:r>
              <a:rPr lang="ru-RU" sz="1600" dirty="0">
                <a:solidFill>
                  <a:schemeClr val="tx2"/>
                </a:solidFill>
              </a:rPr>
              <a:t>частичное соответствие требованиям к пользовательскому интерфейсу – интерфейс прост и изучаем, но не адаптирован под разные роли пользователей, что не в полной мере соответствует сценариям использования, описанным в диаграммах прецедентов.</a:t>
            </a:r>
          </a:p>
        </p:txBody>
      </p:sp>
    </p:spTree>
    <p:extLst>
      <p:ext uri="{BB962C8B-B14F-4D97-AF65-F5344CB8AC3E}">
        <p14:creationId xmlns:p14="http://schemas.microsoft.com/office/powerpoint/2010/main" val="1519723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99C3F-8AB6-CF38-467D-28775A09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D47CD-5494-352C-769D-0E0D7E7D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91712"/>
            <a:ext cx="5309616" cy="5160789"/>
          </a:xfrm>
        </p:spPr>
        <p:txBody>
          <a:bodyPr anchor="ctr">
            <a:norm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EC132-7F28-F08F-7583-BC39177D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302" y="891713"/>
            <a:ext cx="4584882" cy="5160790"/>
          </a:xfrm>
        </p:spPr>
        <p:txBody>
          <a:bodyPr anchor="ctr">
            <a:normAutofit/>
          </a:bodyPr>
          <a:lstStyle/>
          <a:p>
            <a:pPr marL="0" indent="457200" algn="just">
              <a:buNone/>
            </a:pPr>
            <a:r>
              <a:rPr lang="ru-RU" sz="2000" dirty="0">
                <a:solidFill>
                  <a:schemeClr val="bg1"/>
                </a:solidFill>
              </a:rPr>
              <a:t>Итак, подводя итог, можно сказать, что система соответствует жёстким требованиям к функциональности, надёжности и производительности, но не соответствует гибким требованиям к </a:t>
            </a:r>
            <a:r>
              <a:rPr lang="ru-RU" sz="2000" dirty="0" err="1">
                <a:solidFill>
                  <a:schemeClr val="bg1"/>
                </a:solidFill>
              </a:rPr>
              <a:t>сопровождаемости</a:t>
            </a:r>
            <a:r>
              <a:rPr lang="ru-RU" sz="2000" dirty="0">
                <a:solidFill>
                  <a:schemeClr val="bg1"/>
                </a:solidFill>
              </a:rPr>
              <a:t> кода и оптимальности пользовательского интерфейса для разных ролей. ПО готово к эксплуатации, но требует доработок для обеспечения долгосрочной жизнеспособности и удобства сопровождения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088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567</Words>
  <Application>Microsoft Office PowerPoint</Application>
  <PresentationFormat>Широкоэкранный</PresentationFormat>
  <Paragraphs>63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Тема Office</vt:lpstr>
      <vt:lpstr>Технологии разработки программного  обеспечения и оценка качества </vt:lpstr>
      <vt:lpstr>Цель работы</vt:lpstr>
      <vt:lpstr>Задачи </vt:lpstr>
      <vt:lpstr>Цели и назначения создания автоматизированной системы</vt:lpstr>
      <vt:lpstr>Автоматизированная система контроля и управления позволит</vt:lpstr>
      <vt:lpstr>Функции создаваемой системы</vt:lpstr>
      <vt:lpstr>Характеристики объекта автоматизации</vt:lpstr>
      <vt:lpstr>IDEF0 (A-0)</vt:lpstr>
      <vt:lpstr>IDEF0 (A0)</vt:lpstr>
      <vt:lpstr>IDEF0 (A1)</vt:lpstr>
      <vt:lpstr>IDEF0 (A2)</vt:lpstr>
      <vt:lpstr>IDEF0 (A3)</vt:lpstr>
      <vt:lpstr>IDEF3</vt:lpstr>
      <vt:lpstr>IDEF3_1</vt:lpstr>
      <vt:lpstr>IDEF3_2</vt:lpstr>
      <vt:lpstr>IDEF3_3</vt:lpstr>
      <vt:lpstr>IDEF3_4</vt:lpstr>
      <vt:lpstr>IDEF3_5</vt:lpstr>
      <vt:lpstr>Диаграмма прецедентов </vt:lpstr>
      <vt:lpstr>Диаграмма классов </vt:lpstr>
      <vt:lpstr>Диаграмма последовательности </vt:lpstr>
      <vt:lpstr>Диаграмма состояний </vt:lpstr>
      <vt:lpstr>Радарная диаграмма</vt:lpstr>
      <vt:lpstr>Оценки характеристик</vt:lpstr>
      <vt:lpstr>Выводы о соответствии и несоответствии требованиям качества</vt:lpstr>
      <vt:lpstr>Заключение</vt:lpstr>
    </vt:vector>
  </TitlesOfParts>
  <Company>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Sharigin</dc:creator>
  <cp:lastModifiedBy>Maxim Sharigin</cp:lastModifiedBy>
  <cp:revision>3</cp:revision>
  <dcterms:created xsi:type="dcterms:W3CDTF">2025-12-25T07:44:03Z</dcterms:created>
  <dcterms:modified xsi:type="dcterms:W3CDTF">2025-12-25T09:51:29Z</dcterms:modified>
</cp:coreProperties>
</file>